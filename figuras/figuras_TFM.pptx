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1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38B1855-1B75-4FBE-930C-398BA8C253C6}" styleName="Estilo temático 2 - Énfasis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84"/>
  </p:normalViewPr>
  <p:slideViewPr>
    <p:cSldViewPr snapToGrid="0">
      <p:cViewPr>
        <p:scale>
          <a:sx n="75" d="100"/>
          <a:sy n="75" d="100"/>
        </p:scale>
        <p:origin x="317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A20B9-A399-4C45-9BE2-CC640EA84D56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46FE4-2FC6-4706-960F-3DF0637C12E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4841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846FE4-2FC6-4706-960F-3DF0637C12E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096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5143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9403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0722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3152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311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4557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6240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274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3471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833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3548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765AC1-0663-8843-9B78-7432E893FF9C}" type="datetimeFigureOut">
              <a:rPr lang="es-ES" smtClean="0"/>
              <a:t>06/06/2025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3743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22788A1-4A35-28EA-B834-998185FD17FB}"/>
              </a:ext>
            </a:extLst>
          </p:cNvPr>
          <p:cNvSpPr txBox="1"/>
          <p:nvPr/>
        </p:nvSpPr>
        <p:spPr>
          <a:xfrm>
            <a:off x="661424" y="4337215"/>
            <a:ext cx="5043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1.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Turan et al., 2023</a:t>
            </a:r>
            <a:r>
              <a:rPr lang="es-ES" dirty="0">
                <a:effectLst/>
              </a:rPr>
              <a:t> </a:t>
            </a:r>
            <a:r>
              <a:rPr lang="es-ES" dirty="0"/>
              <a:t>)</a:t>
            </a:r>
          </a:p>
        </p:txBody>
      </p:sp>
      <p:grpSp>
        <p:nvGrpSpPr>
          <p:cNvPr id="53" name="Grupo 52">
            <a:extLst>
              <a:ext uri="{FF2B5EF4-FFF2-40B4-BE49-F238E27FC236}">
                <a16:creationId xmlns:a16="http://schemas.microsoft.com/office/drawing/2014/main" id="{F283CECC-58FE-69A4-E358-30DC47A0C995}"/>
              </a:ext>
            </a:extLst>
          </p:cNvPr>
          <p:cNvGrpSpPr/>
          <p:nvPr/>
        </p:nvGrpSpPr>
        <p:grpSpPr>
          <a:xfrm>
            <a:off x="-9937" y="107821"/>
            <a:ext cx="6858000" cy="4108744"/>
            <a:chOff x="0" y="164096"/>
            <a:chExt cx="6858000" cy="4108744"/>
          </a:xfrm>
        </p:grpSpPr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40F0F44A-297F-663C-19DB-3ECE198B4360}"/>
                </a:ext>
              </a:extLst>
            </p:cNvPr>
            <p:cNvGrpSpPr/>
            <p:nvPr/>
          </p:nvGrpSpPr>
          <p:grpSpPr>
            <a:xfrm>
              <a:off x="0" y="164096"/>
              <a:ext cx="6858000" cy="4108744"/>
              <a:chOff x="0" y="164096"/>
              <a:chExt cx="6858000" cy="4108744"/>
            </a:xfrm>
          </p:grpSpPr>
          <p:grpSp>
            <p:nvGrpSpPr>
              <p:cNvPr id="46" name="Grupo 45">
                <a:extLst>
                  <a:ext uri="{FF2B5EF4-FFF2-40B4-BE49-F238E27FC236}">
                    <a16:creationId xmlns:a16="http://schemas.microsoft.com/office/drawing/2014/main" id="{D82EFECD-23EC-D772-7027-B0CAD80FA0FF}"/>
                  </a:ext>
                </a:extLst>
              </p:cNvPr>
              <p:cNvGrpSpPr/>
              <p:nvPr/>
            </p:nvGrpSpPr>
            <p:grpSpPr>
              <a:xfrm>
                <a:off x="0" y="164096"/>
                <a:ext cx="6858000" cy="4108744"/>
                <a:chOff x="65548" y="183146"/>
                <a:chExt cx="6858000" cy="4108744"/>
              </a:xfrm>
            </p:grpSpPr>
            <p:grpSp>
              <p:nvGrpSpPr>
                <p:cNvPr id="44" name="Grupo 43">
                  <a:extLst>
                    <a:ext uri="{FF2B5EF4-FFF2-40B4-BE49-F238E27FC236}">
                      <a16:creationId xmlns:a16="http://schemas.microsoft.com/office/drawing/2014/main" id="{1E81618F-3CBB-8AA4-DE60-A85210FD29C5}"/>
                    </a:ext>
                  </a:extLst>
                </p:cNvPr>
                <p:cNvGrpSpPr/>
                <p:nvPr/>
              </p:nvGrpSpPr>
              <p:grpSpPr>
                <a:xfrm>
                  <a:off x="65548" y="183146"/>
                  <a:ext cx="6858000" cy="4108744"/>
                  <a:chOff x="65548" y="183146"/>
                  <a:chExt cx="6858000" cy="4108744"/>
                </a:xfrm>
              </p:grpSpPr>
              <p:grpSp>
                <p:nvGrpSpPr>
                  <p:cNvPr id="42" name="Grupo 41">
                    <a:extLst>
                      <a:ext uri="{FF2B5EF4-FFF2-40B4-BE49-F238E27FC236}">
                        <a16:creationId xmlns:a16="http://schemas.microsoft.com/office/drawing/2014/main" id="{66425ED6-8098-1A68-BA4A-C5A13C66CAED}"/>
                      </a:ext>
                    </a:extLst>
                  </p:cNvPr>
                  <p:cNvGrpSpPr/>
                  <p:nvPr/>
                </p:nvGrpSpPr>
                <p:grpSpPr>
                  <a:xfrm>
                    <a:off x="65548" y="183146"/>
                    <a:ext cx="6858000" cy="4108744"/>
                    <a:chOff x="65548" y="183146"/>
                    <a:chExt cx="6858000" cy="4108744"/>
                  </a:xfrm>
                </p:grpSpPr>
                <p:grpSp>
                  <p:nvGrpSpPr>
                    <p:cNvPr id="40" name="Grupo 39">
                      <a:extLst>
                        <a:ext uri="{FF2B5EF4-FFF2-40B4-BE49-F238E27FC236}">
                          <a16:creationId xmlns:a16="http://schemas.microsoft.com/office/drawing/2014/main" id="{E524C5E7-E997-FC05-A848-386065E99E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548" y="183146"/>
                      <a:ext cx="6858000" cy="4108744"/>
                      <a:chOff x="65548" y="183146"/>
                      <a:chExt cx="6858000" cy="4108744"/>
                    </a:xfrm>
                  </p:grpSpPr>
                  <p:grpSp>
                    <p:nvGrpSpPr>
                      <p:cNvPr id="38" name="Grupo 37">
                        <a:extLst>
                          <a:ext uri="{FF2B5EF4-FFF2-40B4-BE49-F238E27FC236}">
                            <a16:creationId xmlns:a16="http://schemas.microsoft.com/office/drawing/2014/main" id="{0BFB82C6-5E15-69F4-CF67-8003031A85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548" y="183146"/>
                        <a:ext cx="6858000" cy="4108744"/>
                        <a:chOff x="-61452" y="519696"/>
                        <a:chExt cx="6858000" cy="4108744"/>
                      </a:xfrm>
                    </p:grpSpPr>
                    <p:grpSp>
                      <p:nvGrpSpPr>
                        <p:cNvPr id="36" name="Grupo 35">
                          <a:extLst>
                            <a:ext uri="{FF2B5EF4-FFF2-40B4-BE49-F238E27FC236}">
                              <a16:creationId xmlns:a16="http://schemas.microsoft.com/office/drawing/2014/main" id="{EF84984C-7512-9FD6-7763-42E5A2574E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-61452" y="519696"/>
                          <a:ext cx="6858000" cy="4108744"/>
                          <a:chOff x="-61452" y="519696"/>
                          <a:chExt cx="6858000" cy="4108744"/>
                        </a:xfrm>
                      </p:grpSpPr>
                      <p:grpSp>
                        <p:nvGrpSpPr>
                          <p:cNvPr id="33" name="Grupo 32">
                            <a:extLst>
                              <a:ext uri="{FF2B5EF4-FFF2-40B4-BE49-F238E27FC236}">
                                <a16:creationId xmlns:a16="http://schemas.microsoft.com/office/drawing/2014/main" id="{8E55D7AD-9DD1-B80B-D515-573A7E42B22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-61452" y="519696"/>
                            <a:ext cx="6858000" cy="4108744"/>
                            <a:chOff x="0" y="500646"/>
                            <a:chExt cx="6858000" cy="4108744"/>
                          </a:xfrm>
                        </p:grpSpPr>
                        <p:grpSp>
                          <p:nvGrpSpPr>
                            <p:cNvPr id="18" name="Grupo 17">
                              <a:extLst>
                                <a:ext uri="{FF2B5EF4-FFF2-40B4-BE49-F238E27FC236}">
                                  <a16:creationId xmlns:a16="http://schemas.microsoft.com/office/drawing/2014/main" id="{3B430049-0B89-47E2-3797-1218B99A8855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0" y="500646"/>
                              <a:ext cx="6858000" cy="4108744"/>
                              <a:chOff x="0" y="500646"/>
                              <a:chExt cx="6858000" cy="4108744"/>
                            </a:xfrm>
                          </p:grpSpPr>
                          <p:grpSp>
                            <p:nvGrpSpPr>
                              <p:cNvPr id="14" name="Grupo 13">
                                <a:extLst>
                                  <a:ext uri="{FF2B5EF4-FFF2-40B4-BE49-F238E27FC236}">
                                    <a16:creationId xmlns:a16="http://schemas.microsoft.com/office/drawing/2014/main" id="{5434F9BB-58C4-711C-CD0C-BDBE302D9F4B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0" y="500646"/>
                                <a:ext cx="6858000" cy="4108744"/>
                                <a:chOff x="0" y="500646"/>
                                <a:chExt cx="6858000" cy="4108744"/>
                              </a:xfrm>
                            </p:grpSpPr>
                            <p:grpSp>
                              <p:nvGrpSpPr>
                                <p:cNvPr id="13" name="Grupo 12">
                                  <a:extLst>
                                    <a:ext uri="{FF2B5EF4-FFF2-40B4-BE49-F238E27FC236}">
                                      <a16:creationId xmlns:a16="http://schemas.microsoft.com/office/drawing/2014/main" id="{D05B4A01-0762-E689-A604-76B6F9C8F15E}"/>
                                    </a:ext>
                                  </a:extLst>
                                </p:cNvPr>
                                <p:cNvGrpSpPr/>
                                <p:nvPr/>
                              </p:nvGrpSpPr>
                              <p:grpSpPr>
                                <a:xfrm>
                                  <a:off x="0" y="500646"/>
                                  <a:ext cx="6858000" cy="4108744"/>
                                  <a:chOff x="0" y="510478"/>
                                  <a:chExt cx="6858000" cy="4108744"/>
                                </a:xfrm>
                              </p:grpSpPr>
                              <p:pic>
                                <p:nvPicPr>
                                  <p:cNvPr id="4" name="Imagen 3">
                                    <a:extLst>
                                      <a:ext uri="{FF2B5EF4-FFF2-40B4-BE49-F238E27FC236}">
                                        <a16:creationId xmlns:a16="http://schemas.microsoft.com/office/drawing/2014/main" id="{776432E4-7593-4BE1-6B07-FD6BE46D8A3F}"/>
                                      </a:ext>
                                    </a:extLst>
                                  </p:cNvPr>
                                  <p:cNvPicPr>
                                    <a:picLocks noChangeAspect="1"/>
                                  </p:cNvPicPr>
                                  <p:nvPr/>
                                </p:nvPicPr>
                                <p:blipFill>
                                  <a:blip r:embed="rId3"/>
                                  <a:stretch>
                                    <a:fillRect/>
                                  </a:stretch>
                                </p:blipFill>
                                <p:spPr>
                                  <a:xfrm>
                                    <a:off x="0" y="736620"/>
                                    <a:ext cx="6858000" cy="3614954"/>
                                  </a:xfrm>
                                  <a:prstGeom prst="rect">
                                    <a:avLst/>
                                  </a:prstGeom>
                                </p:spPr>
                              </p:pic>
                              <p:grpSp>
                                <p:nvGrpSpPr>
                                  <p:cNvPr id="12" name="Grupo 11">
                                    <a:extLst>
                                      <a:ext uri="{FF2B5EF4-FFF2-40B4-BE49-F238E27FC236}">
                                        <a16:creationId xmlns:a16="http://schemas.microsoft.com/office/drawing/2014/main" id="{B61DB1A0-FCA8-C1CC-7621-9DB8710C1BBA}"/>
                                      </a:ext>
                                    </a:extLst>
                                  </p:cNvPr>
                                  <p:cNvGrpSpPr/>
                                  <p:nvPr/>
                                </p:nvGrpSpPr>
                                <p:grpSpPr>
                                  <a:xfrm>
                                    <a:off x="1184787" y="510478"/>
                                    <a:ext cx="4704736" cy="4108744"/>
                                    <a:chOff x="1184787" y="510478"/>
                                    <a:chExt cx="4704736" cy="4108744"/>
                                  </a:xfrm>
                                </p:grpSpPr>
                                <p:sp>
                                  <p:nvSpPr>
                                    <p:cNvPr id="6" name="CuadroTexto 5">
                                      <a:extLst>
                                        <a:ext uri="{FF2B5EF4-FFF2-40B4-BE49-F238E27FC236}">
                                          <a16:creationId xmlns:a16="http://schemas.microsoft.com/office/drawing/2014/main" id="{B5E5A110-C395-7B53-C27B-C8D2D3403B4C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3180735" y="913600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A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8" name="CuadroTexto 7">
                                      <a:extLst>
                                        <a:ext uri="{FF2B5EF4-FFF2-40B4-BE49-F238E27FC236}">
                                          <a16:creationId xmlns:a16="http://schemas.microsoft.com/office/drawing/2014/main" id="{829C9795-26E8-8F1C-61CF-B84DCA8C7E6B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4208205" y="913600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B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9" name="CuadroTexto 8">
                                      <a:extLst>
                                        <a:ext uri="{FF2B5EF4-FFF2-40B4-BE49-F238E27FC236}">
                                          <a16:creationId xmlns:a16="http://schemas.microsoft.com/office/drawing/2014/main" id="{53178ADB-4FF9-04BA-681A-DF2D3868B691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1184787" y="510478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C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10" name="CuadroTexto 9">
                                      <a:extLst>
                                        <a:ext uri="{FF2B5EF4-FFF2-40B4-BE49-F238E27FC236}">
                                          <a16:creationId xmlns:a16="http://schemas.microsoft.com/office/drawing/2014/main" id="{A1420EB1-B84E-63DF-A7D1-078CC59C1141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1184787" y="3234014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D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11" name="CuadroTexto 10">
                                      <a:extLst>
                                        <a:ext uri="{FF2B5EF4-FFF2-40B4-BE49-F238E27FC236}">
                                          <a16:creationId xmlns:a16="http://schemas.microsoft.com/office/drawing/2014/main" id="{AC323054-9F64-5CD8-6C4B-B5DEE116AB2E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5515897" y="4311445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E</a:t>
                                      </a:r>
                                    </a:p>
                                  </p:txBody>
                                </p:sp>
                              </p:grpSp>
                            </p:grpSp>
                            <p:sp>
                              <p:nvSpPr>
                                <p:cNvPr id="3" name="Rectángulo 2">
                                  <a:extLst>
                                    <a:ext uri="{FF2B5EF4-FFF2-40B4-BE49-F238E27FC236}">
                                      <a16:creationId xmlns:a16="http://schemas.microsoft.com/office/drawing/2014/main" id="{5CF91564-2696-1592-8F7B-BAEE2A80B23B}"/>
                                    </a:ext>
                                  </a:extLst>
                                </p:cNvPr>
                                <p:cNvSpPr/>
                                <p:nvPr/>
                              </p:nvSpPr>
                              <p:spPr>
                                <a:xfrm>
                                  <a:off x="4445000" y="1211545"/>
                                  <a:ext cx="1070897" cy="1588805"/>
                                </a:xfrm>
                                <a:prstGeom prst="rect">
                                  <a:avLst/>
                                </a:prstGeom>
                                <a:solidFill>
                                  <a:schemeClr val="bg1"/>
                                </a:solidFill>
                                <a:ln>
                                  <a:solidFill>
                                    <a:schemeClr val="bg1"/>
                                  </a:solidFill>
                                </a:ln>
                              </p:spPr>
                              <p:style>
                                <a:lnRef idx="2">
                                  <a:schemeClr val="accent1">
                                    <a:shade val="15000"/>
                                  </a:schemeClr>
                                </a:lnRef>
                                <a:fillRef idx="1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lt1"/>
                                </a:fontRef>
                              </p:style>
                              <p:txBody>
                                <a:bodyPr rtlCol="0" anchor="ctr"/>
                                <a:lstStyle/>
                                <a:p>
                                  <a:pPr algn="ctr"/>
                                  <a:endParaRPr lang="es-ES" dirty="0"/>
                                </a:p>
                              </p:txBody>
                            </p:sp>
                          </p:grpSp>
                          <p:sp>
                            <p:nvSpPr>
                              <p:cNvPr id="17" name="CuadroTexto 16">
                                <a:extLst>
                                  <a:ext uri="{FF2B5EF4-FFF2-40B4-BE49-F238E27FC236}">
                                    <a16:creationId xmlns:a16="http://schemas.microsoft.com/office/drawing/2014/main" id="{48E5B670-C70F-E2C6-CE9F-8E9017242B6C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4375147" y="1305925"/>
                                <a:ext cx="2240732" cy="215444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es-ES" sz="800" b="1" dirty="0">
                                    <a:latin typeface="Arial" panose="020B0604020202020204" pitchFamily="34" charset="0"/>
                                    <a:cs typeface="Arial" panose="020B0604020202020204" pitchFamily="34" charset="0"/>
                                  </a:rPr>
                                  <a:t>Proteínas BBS (</a:t>
                                </a:r>
                                <a:r>
                                  <a:rPr lang="es-ES" sz="800" b="1" dirty="0" err="1">
                                    <a:latin typeface="Arial" panose="020B0604020202020204" pitchFamily="34" charset="0"/>
                                    <a:cs typeface="Arial" panose="020B0604020202020204" pitchFamily="34" charset="0"/>
                                  </a:rPr>
                                  <a:t>BBSoma</a:t>
                                </a:r>
                                <a:r>
                                  <a:rPr lang="es-ES" sz="800" b="1" dirty="0">
                                    <a:latin typeface="Arial" panose="020B0604020202020204" pitchFamily="34" charset="0"/>
                                    <a:cs typeface="Arial" panose="020B0604020202020204" pitchFamily="34" charset="0"/>
                                  </a:rPr>
                                  <a:t>)</a:t>
                                </a:r>
                              </a:p>
                            </p:txBody>
                          </p:sp>
                        </p:grpSp>
                        <p:sp>
                          <p:nvSpPr>
                            <p:cNvPr id="19" name="CuadroTexto 18">
                              <a:extLst>
                                <a:ext uri="{FF2B5EF4-FFF2-40B4-BE49-F238E27FC236}">
                                  <a16:creationId xmlns:a16="http://schemas.microsoft.com/office/drawing/2014/main" id="{741ED219-2160-F025-7EB4-2786661F476B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4395018" y="1459813"/>
                              <a:ext cx="465599" cy="215444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r>
                                <a:rPr lang="es-ES" sz="800" b="1" dirty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a:t>IFT-A</a:t>
                              </a:r>
                            </a:p>
                          </p:txBody>
                        </p:sp>
                        <p:sp>
                          <p:nvSpPr>
                            <p:cNvPr id="32" name="CuadroTexto 31">
                              <a:extLst>
                                <a:ext uri="{FF2B5EF4-FFF2-40B4-BE49-F238E27FC236}">
                                  <a16:creationId xmlns:a16="http://schemas.microsoft.com/office/drawing/2014/main" id="{9BF23779-4115-9DB6-EFD2-467AE8BA24E2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4395018" y="1607819"/>
                              <a:ext cx="465599" cy="215444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r>
                                <a:rPr lang="es-ES" sz="800" b="1" dirty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a:t>IFT-B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4" name="CuadroTexto 33">
                            <a:extLst>
                              <a:ext uri="{FF2B5EF4-FFF2-40B4-BE49-F238E27FC236}">
                                <a16:creationId xmlns:a16="http://schemas.microsoft.com/office/drawing/2014/main" id="{DDDF16F6-C712-2D25-4CEC-4EC89B23917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313695" y="2059422"/>
                            <a:ext cx="794470" cy="2154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s-ES" sz="800" b="1" dirty="0" err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Cinesina</a:t>
                            </a:r>
                            <a:r>
                              <a:rPr lang="es-ES" sz="800" b="1" dirty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 II</a:t>
                            </a:r>
                          </a:p>
                        </p:txBody>
                      </p:sp>
                      <p:sp>
                        <p:nvSpPr>
                          <p:cNvPr id="35" name="CuadroTexto 34">
                            <a:extLst>
                              <a:ext uri="{FF2B5EF4-FFF2-40B4-BE49-F238E27FC236}">
                                <a16:creationId xmlns:a16="http://schemas.microsoft.com/office/drawing/2014/main" id="{2FFCB0F3-5915-096C-939E-50DD81F7EADC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333566" y="2333684"/>
                            <a:ext cx="1077452" cy="2154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s-ES" sz="800" b="1" dirty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OSM-3/KIF17</a:t>
                            </a:r>
                          </a:p>
                        </p:txBody>
                      </p:sp>
                    </p:grpSp>
                    <p:sp>
                      <p:nvSpPr>
                        <p:cNvPr id="37" name="CuadroTexto 36">
                          <a:extLst>
                            <a:ext uri="{FF2B5EF4-FFF2-40B4-BE49-F238E27FC236}">
                              <a16:creationId xmlns:a16="http://schemas.microsoft.com/office/drawing/2014/main" id="{94260981-377A-4AD6-13F4-497D6C1E711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3566" y="1834740"/>
                          <a:ext cx="794470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s-ES" sz="800" b="1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Dineína</a:t>
                          </a:r>
                        </a:p>
                      </p:txBody>
                    </p:sp>
                  </p:grpSp>
                  <p:sp>
                    <p:nvSpPr>
                      <p:cNvPr id="39" name="CuadroTexto 38">
                        <a:extLst>
                          <a:ext uri="{FF2B5EF4-FFF2-40B4-BE49-F238E27FC236}">
                            <a16:creationId xmlns:a16="http://schemas.microsoft.com/office/drawing/2014/main" id="{949C0EE0-767B-796C-AF8E-7B46F3D1A1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60566" y="2246093"/>
                        <a:ext cx="1077452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s-ES" sz="800" b="1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Conectores en Y</a:t>
                        </a:r>
                      </a:p>
                    </p:txBody>
                  </p:sp>
                </p:grpSp>
                <p:sp>
                  <p:nvSpPr>
                    <p:cNvPr id="41" name="CuadroTexto 40">
                      <a:extLst>
                        <a:ext uri="{FF2B5EF4-FFF2-40B4-BE49-F238E27FC236}">
                          <a16:creationId xmlns:a16="http://schemas.microsoft.com/office/drawing/2014/main" id="{E8EC88F6-8DC1-FF33-A41F-594F71A69B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96439" y="2529016"/>
                      <a:ext cx="107745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Bolsillo Ciliar</a:t>
                      </a:r>
                    </a:p>
                  </p:txBody>
                </p:sp>
              </p:grpSp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6ADC6232-95D6-883B-4A1E-45CEAF6E9E98}"/>
                      </a:ext>
                    </a:extLst>
                  </p:cNvPr>
                  <p:cNvSpPr txBox="1"/>
                  <p:nvPr/>
                </p:nvSpPr>
                <p:spPr>
                  <a:xfrm>
                    <a:off x="2317749" y="1107894"/>
                    <a:ext cx="609601" cy="20005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ES" sz="7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Axonema</a:t>
                    </a:r>
                  </a:p>
                </p:txBody>
              </p:sp>
            </p:grpSp>
            <p:sp>
              <p:nvSpPr>
                <p:cNvPr id="45" name="CuadroTexto 44">
                  <a:extLst>
                    <a:ext uri="{FF2B5EF4-FFF2-40B4-BE49-F238E27FC236}">
                      <a16:creationId xmlns:a16="http://schemas.microsoft.com/office/drawing/2014/main" id="{9085B62F-5B35-3157-D7AA-B8E01924061C}"/>
                    </a:ext>
                  </a:extLst>
                </p:cNvPr>
                <p:cNvSpPr txBox="1"/>
                <p:nvPr/>
              </p:nvSpPr>
              <p:spPr>
                <a:xfrm>
                  <a:off x="2094733" y="1336486"/>
                  <a:ext cx="660401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7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Membrana </a:t>
                  </a:r>
                </a:p>
                <a:p>
                  <a:pPr algn="ctr"/>
                  <a:r>
                    <a:rPr lang="es-ES" sz="7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Ciliar</a:t>
                  </a:r>
                </a:p>
              </p:txBody>
            </p:sp>
          </p:grp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A9845D7C-34AD-E598-E675-3DFD5B754A3C}"/>
                  </a:ext>
                </a:extLst>
              </p:cNvPr>
              <p:cNvSpPr txBox="1"/>
              <p:nvPr/>
            </p:nvSpPr>
            <p:spPr>
              <a:xfrm>
                <a:off x="1676098" y="3297976"/>
                <a:ext cx="99162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Material pericentriolar</a:t>
                </a:r>
              </a:p>
            </p:txBody>
          </p:sp>
        </p:grp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23FBE1E0-A90F-98AD-79A6-1D8174473221}"/>
                </a:ext>
              </a:extLst>
            </p:cNvPr>
            <p:cNvSpPr txBox="1"/>
            <p:nvPr/>
          </p:nvSpPr>
          <p:spPr>
            <a:xfrm rot="16200000">
              <a:off x="2276836" y="2027900"/>
              <a:ext cx="86360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Anterógrado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0971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120EC5D2-99A0-37A9-9CF8-04654CE4F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4" y="532990"/>
            <a:ext cx="5365818" cy="5376197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9E06198-5594-047F-A73A-73F457A7C7A9}"/>
              </a:ext>
            </a:extLst>
          </p:cNvPr>
          <p:cNvSpPr txBox="1"/>
          <p:nvPr/>
        </p:nvSpPr>
        <p:spPr>
          <a:xfrm>
            <a:off x="907025" y="6145162"/>
            <a:ext cx="5043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3.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Pedersen et al., 2008)</a:t>
            </a:r>
            <a:r>
              <a:rPr lang="es-ES" dirty="0">
                <a:effectLst/>
              </a:rPr>
              <a:t> 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60904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001AC6A-D23E-05A6-5932-BB33A8305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3123"/>
            <a:ext cx="6858000" cy="3397921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6B99447-8F2C-7EFD-64EF-B7B30D6C8E5E}"/>
              </a:ext>
            </a:extLst>
          </p:cNvPr>
          <p:cNvSpPr txBox="1"/>
          <p:nvPr/>
        </p:nvSpPr>
        <p:spPr>
          <a:xfrm>
            <a:off x="764457" y="4768334"/>
            <a:ext cx="54691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3.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(Andreu-Cervera et al., 2021</a:t>
            </a:r>
            <a:r>
              <a:rPr lang="es-ES" dirty="0">
                <a:effectLst/>
              </a:rPr>
              <a:t>  </a:t>
            </a:r>
            <a:r>
              <a:rPr lang="es-E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4407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68AD919B-B493-65AB-67FA-7D158FD47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8741"/>
            <a:ext cx="6858000" cy="3574259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D952A9C-1370-B403-22E2-E400297CD776}"/>
              </a:ext>
            </a:extLst>
          </p:cNvPr>
          <p:cNvSpPr txBox="1"/>
          <p:nvPr/>
        </p:nvSpPr>
        <p:spPr>
          <a:xfrm>
            <a:off x="1356852" y="5191432"/>
            <a:ext cx="4581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4.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Turan et al., 2023</a:t>
            </a:r>
            <a:r>
              <a:rPr lang="es-ES" dirty="0">
                <a:effectLst/>
              </a:rPr>
              <a:t> </a:t>
            </a:r>
            <a:r>
              <a:rPr lang="es-E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95393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AA1F8D9D-F8C4-6C87-1AF1-53D9C1CCC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" y="1281661"/>
            <a:ext cx="6543675" cy="2698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29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>
            <a:extLst>
              <a:ext uri="{FF2B5EF4-FFF2-40B4-BE49-F238E27FC236}">
                <a16:creationId xmlns:a16="http://schemas.microsoft.com/office/drawing/2014/main" id="{C359D70E-7387-00FB-1607-83EBD314FC3E}"/>
              </a:ext>
            </a:extLst>
          </p:cNvPr>
          <p:cNvGrpSpPr/>
          <p:nvPr/>
        </p:nvGrpSpPr>
        <p:grpSpPr>
          <a:xfrm>
            <a:off x="442495" y="1348065"/>
            <a:ext cx="5973009" cy="5772956"/>
            <a:chOff x="442495" y="1348065"/>
            <a:chExt cx="5973009" cy="5772956"/>
          </a:xfrm>
        </p:grpSpPr>
        <p:pic>
          <p:nvPicPr>
            <p:cNvPr id="3" name="Imagen 2" descr="Gráfico, Gráfico de barras&#10;&#10;El contenido generado por IA puede ser incorrecto.">
              <a:extLst>
                <a:ext uri="{FF2B5EF4-FFF2-40B4-BE49-F238E27FC236}">
                  <a16:creationId xmlns:a16="http://schemas.microsoft.com/office/drawing/2014/main" id="{F400F7BE-0FE0-5648-399C-0A8F1D2AA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2495" y="1348065"/>
              <a:ext cx="5973009" cy="5772956"/>
            </a:xfrm>
            <a:prstGeom prst="rect">
              <a:avLst/>
            </a:prstGeom>
          </p:spPr>
        </p:pic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A418AB01-CCC0-05F5-C66A-58995D3840D9}"/>
                </a:ext>
              </a:extLst>
            </p:cNvPr>
            <p:cNvSpPr txBox="1"/>
            <p:nvPr/>
          </p:nvSpPr>
          <p:spPr>
            <a:xfrm>
              <a:off x="442495" y="1572118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A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0BEC1E9-6FEA-B8A4-1C26-3FA2A8DD1257}"/>
                </a:ext>
              </a:extLst>
            </p:cNvPr>
            <p:cNvSpPr txBox="1"/>
            <p:nvPr/>
          </p:nvSpPr>
          <p:spPr>
            <a:xfrm>
              <a:off x="3487781" y="1572118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F21BD393-761C-F6DF-0040-222F3000A7E9}"/>
                </a:ext>
              </a:extLst>
            </p:cNvPr>
            <p:cNvSpPr txBox="1"/>
            <p:nvPr/>
          </p:nvSpPr>
          <p:spPr>
            <a:xfrm>
              <a:off x="442495" y="4346568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C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8276683F-F81F-33CF-AA7C-57BA063BC9AA}"/>
                </a:ext>
              </a:extLst>
            </p:cNvPr>
            <p:cNvSpPr txBox="1"/>
            <p:nvPr/>
          </p:nvSpPr>
          <p:spPr>
            <a:xfrm>
              <a:off x="3559626" y="4346569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2135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Diagrama&#10;&#10;El contenido generado por IA puede ser incorrecto.">
            <a:extLst>
              <a:ext uri="{FF2B5EF4-FFF2-40B4-BE49-F238E27FC236}">
                <a16:creationId xmlns:a16="http://schemas.microsoft.com/office/drawing/2014/main" id="{FABA5D6D-18E9-5316-473A-056447C98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95" y="2066522"/>
            <a:ext cx="5973009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325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D005A854-812E-54C7-BEB2-68607D8C1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95" y="1215622"/>
            <a:ext cx="5973009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1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1943122D-A39B-62E2-A851-C20D9264B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70" y="704447"/>
            <a:ext cx="5973009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35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066C8F85-3268-D7BB-BAE6-A5A9245CB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9712"/>
            <a:ext cx="6858000" cy="560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130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7294461D-0032-4E9B-968D-731B2A985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4462"/>
            <a:ext cx="6858000" cy="560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92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ACA6B272-03CF-B675-F38C-7698DD174FDF}"/>
              </a:ext>
            </a:extLst>
          </p:cNvPr>
          <p:cNvGrpSpPr/>
          <p:nvPr/>
        </p:nvGrpSpPr>
        <p:grpSpPr>
          <a:xfrm>
            <a:off x="419100" y="650762"/>
            <a:ext cx="6438900" cy="5264609"/>
            <a:chOff x="419100" y="650762"/>
            <a:chExt cx="6438900" cy="5264609"/>
          </a:xfrm>
        </p:grpSpPr>
        <p:pic>
          <p:nvPicPr>
            <p:cNvPr id="5" name="Imagen 4" descr="Gráfico&#10;&#10;El contenido generado por IA puede ser incorrecto.">
              <a:extLst>
                <a:ext uri="{FF2B5EF4-FFF2-40B4-BE49-F238E27FC236}">
                  <a16:creationId xmlns:a16="http://schemas.microsoft.com/office/drawing/2014/main" id="{19781BA4-4A1B-6219-E777-DD2117AC7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9100" y="650763"/>
              <a:ext cx="6438900" cy="5264608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6D9B92D4-2C17-BB2E-91AD-E1730F8B516A}"/>
                </a:ext>
              </a:extLst>
            </p:cNvPr>
            <p:cNvSpPr txBox="1"/>
            <p:nvPr/>
          </p:nvSpPr>
          <p:spPr>
            <a:xfrm>
              <a:off x="419100" y="650763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A</a:t>
              </a: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912A1151-8815-AC82-FAB5-13EFD3634756}"/>
                </a:ext>
              </a:extLst>
            </p:cNvPr>
            <p:cNvSpPr txBox="1"/>
            <p:nvPr/>
          </p:nvSpPr>
          <p:spPr>
            <a:xfrm>
              <a:off x="3638550" y="650762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5863562D-5D82-2185-BD24-A4E2FAD3D2DC}"/>
                </a:ext>
              </a:extLst>
            </p:cNvPr>
            <p:cNvSpPr txBox="1"/>
            <p:nvPr/>
          </p:nvSpPr>
          <p:spPr>
            <a:xfrm>
              <a:off x="419100" y="3283067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C</a:t>
              </a:r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E6B17E2F-6673-9F05-B63C-B1756D2C27E5}"/>
                </a:ext>
              </a:extLst>
            </p:cNvPr>
            <p:cNvSpPr txBox="1"/>
            <p:nvPr/>
          </p:nvSpPr>
          <p:spPr>
            <a:xfrm>
              <a:off x="3638550" y="3283066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35274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BA7BDEC9-A19D-F4B0-2835-158EC98F9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1717"/>
            <a:ext cx="6858000" cy="560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35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>
            <a:extLst>
              <a:ext uri="{FF2B5EF4-FFF2-40B4-BE49-F238E27FC236}">
                <a16:creationId xmlns:a16="http://schemas.microsoft.com/office/drawing/2014/main" id="{B539A685-A4C3-E79B-81A5-B3C7C5BA14E9}"/>
              </a:ext>
            </a:extLst>
          </p:cNvPr>
          <p:cNvGrpSpPr/>
          <p:nvPr/>
        </p:nvGrpSpPr>
        <p:grpSpPr>
          <a:xfrm>
            <a:off x="254727" y="501613"/>
            <a:ext cx="6603273" cy="4736027"/>
            <a:chOff x="254727" y="501613"/>
            <a:chExt cx="6603273" cy="4736027"/>
          </a:xfrm>
        </p:grpSpPr>
        <p:pic>
          <p:nvPicPr>
            <p:cNvPr id="5" name="Imagen 4" descr="Gráfico, Gráfico de líneas&#10;&#10;El contenido generado por IA puede ser incorrecto.">
              <a:extLst>
                <a:ext uri="{FF2B5EF4-FFF2-40B4-BE49-F238E27FC236}">
                  <a16:creationId xmlns:a16="http://schemas.microsoft.com/office/drawing/2014/main" id="{3E7F435F-E514-0C94-4BE6-392EEE6C1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4727" y="656713"/>
              <a:ext cx="3174273" cy="2105821"/>
            </a:xfrm>
            <a:prstGeom prst="rect">
              <a:avLst/>
            </a:prstGeom>
          </p:spPr>
        </p:pic>
        <p:pic>
          <p:nvPicPr>
            <p:cNvPr id="7" name="Imagen 6" descr="Gráfico, Gráfico de líneas&#10;&#10;El contenido generado por IA puede ser incorrecto.">
              <a:extLst>
                <a:ext uri="{FF2B5EF4-FFF2-40B4-BE49-F238E27FC236}">
                  <a16:creationId xmlns:a16="http://schemas.microsoft.com/office/drawing/2014/main" id="{E7D41102-F7CD-A626-988C-52A1112C0E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40035" y="656713"/>
              <a:ext cx="3174273" cy="2105821"/>
            </a:xfrm>
            <a:prstGeom prst="rect">
              <a:avLst/>
            </a:prstGeom>
          </p:spPr>
        </p:pic>
        <p:pic>
          <p:nvPicPr>
            <p:cNvPr id="9" name="Imagen 8" descr="Gráfico, Gráfico de líneas&#10;&#10;El contenido generado por IA puede ser incorrecto.">
              <a:extLst>
                <a:ext uri="{FF2B5EF4-FFF2-40B4-BE49-F238E27FC236}">
                  <a16:creationId xmlns:a16="http://schemas.microsoft.com/office/drawing/2014/main" id="{E6DA710D-F4B9-B7BD-61A5-404310A64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727" y="3131820"/>
              <a:ext cx="3174272" cy="2105820"/>
            </a:xfrm>
            <a:prstGeom prst="rect">
              <a:avLst/>
            </a:prstGeom>
          </p:spPr>
        </p:pic>
        <p:pic>
          <p:nvPicPr>
            <p:cNvPr id="11" name="Imagen 10" descr="Gráfico, Gráfico de líneas&#10;&#10;El contenido generado por IA puede ser incorrecto.">
              <a:extLst>
                <a:ext uri="{FF2B5EF4-FFF2-40B4-BE49-F238E27FC236}">
                  <a16:creationId xmlns:a16="http://schemas.microsoft.com/office/drawing/2014/main" id="{939DB6CC-2177-6BFA-FF7D-97851F779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60870" y="2917634"/>
              <a:ext cx="3497130" cy="2320006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521C91AC-AD16-CC91-684F-9C98A5D3F297}"/>
                </a:ext>
              </a:extLst>
            </p:cNvPr>
            <p:cNvSpPr txBox="1"/>
            <p:nvPr/>
          </p:nvSpPr>
          <p:spPr>
            <a:xfrm>
              <a:off x="254727" y="501613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A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F6005FA-78C7-69DE-BC2E-CD32E2ECF2C6}"/>
                </a:ext>
              </a:extLst>
            </p:cNvPr>
            <p:cNvSpPr txBox="1"/>
            <p:nvPr/>
          </p:nvSpPr>
          <p:spPr>
            <a:xfrm>
              <a:off x="3540035" y="501613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3DCB8D63-46EA-629E-F7AD-33500ECA0F16}"/>
                </a:ext>
              </a:extLst>
            </p:cNvPr>
            <p:cNvSpPr txBox="1"/>
            <p:nvPr/>
          </p:nvSpPr>
          <p:spPr>
            <a:xfrm>
              <a:off x="254727" y="2977931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C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4518367A-5D7D-0499-9512-DC5469009BC4}"/>
                </a:ext>
              </a:extLst>
            </p:cNvPr>
            <p:cNvSpPr txBox="1"/>
            <p:nvPr/>
          </p:nvSpPr>
          <p:spPr>
            <a:xfrm>
              <a:off x="3540035" y="2977931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6915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299708BB-FE78-DAD5-4084-698925091B5A}"/>
              </a:ext>
            </a:extLst>
          </p:cNvPr>
          <p:cNvGrpSpPr/>
          <p:nvPr/>
        </p:nvGrpSpPr>
        <p:grpSpPr>
          <a:xfrm>
            <a:off x="381290" y="924043"/>
            <a:ext cx="6248277" cy="2906095"/>
            <a:chOff x="381290" y="924043"/>
            <a:chExt cx="6248277" cy="2906095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929B3D19-4C34-ADAA-B262-29403D6945FC}"/>
                </a:ext>
              </a:extLst>
            </p:cNvPr>
            <p:cNvGrpSpPr/>
            <p:nvPr/>
          </p:nvGrpSpPr>
          <p:grpSpPr>
            <a:xfrm>
              <a:off x="2529460" y="1110116"/>
              <a:ext cx="4100107" cy="2720022"/>
              <a:chOff x="2529460" y="1110116"/>
              <a:chExt cx="4100107" cy="2720022"/>
            </a:xfrm>
          </p:grpSpPr>
          <p:grpSp>
            <p:nvGrpSpPr>
              <p:cNvPr id="7" name="Grupo 6">
                <a:extLst>
                  <a:ext uri="{FF2B5EF4-FFF2-40B4-BE49-F238E27FC236}">
                    <a16:creationId xmlns:a16="http://schemas.microsoft.com/office/drawing/2014/main" id="{D155A211-10CC-6F11-8A74-FB130AB06A8E}"/>
                  </a:ext>
                </a:extLst>
              </p:cNvPr>
              <p:cNvGrpSpPr/>
              <p:nvPr/>
            </p:nvGrpSpPr>
            <p:grpSpPr>
              <a:xfrm>
                <a:off x="2529460" y="1110116"/>
                <a:ext cx="4100107" cy="2720022"/>
                <a:chOff x="653143" y="888581"/>
                <a:chExt cx="5172891" cy="3431710"/>
              </a:xfrm>
            </p:grpSpPr>
            <p:pic>
              <p:nvPicPr>
                <p:cNvPr id="5" name="Imagen 4" descr="Gráfico, Gráfico de dispersión&#10;&#10;El contenido generado por IA puede ser incorrecto.">
                  <a:extLst>
                    <a:ext uri="{FF2B5EF4-FFF2-40B4-BE49-F238E27FC236}">
                      <a16:creationId xmlns:a16="http://schemas.microsoft.com/office/drawing/2014/main" id="{C7218771-90BC-2477-C1AF-9F2D772FF5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3143" y="888581"/>
                  <a:ext cx="5172891" cy="3431710"/>
                </a:xfrm>
                <a:prstGeom prst="rect">
                  <a:avLst/>
                </a:prstGeom>
              </p:spPr>
            </p:pic>
            <p:sp>
              <p:nvSpPr>
                <p:cNvPr id="6" name="CuadroTexto 5">
                  <a:extLst>
                    <a:ext uri="{FF2B5EF4-FFF2-40B4-BE49-F238E27FC236}">
                      <a16:creationId xmlns:a16="http://schemas.microsoft.com/office/drawing/2014/main" id="{42A2922A-996A-303B-5742-33AF0B9DAE09}"/>
                    </a:ext>
                  </a:extLst>
                </p:cNvPr>
                <p:cNvSpPr txBox="1"/>
                <p:nvPr/>
              </p:nvSpPr>
              <p:spPr>
                <a:xfrm>
                  <a:off x="3239588" y="990600"/>
                  <a:ext cx="1797232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endParaRPr lang="es-ES" dirty="0"/>
                </a:p>
              </p:txBody>
            </p:sp>
          </p:grpSp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56E73B01-2C53-E86B-310A-81159FEE9AFE}"/>
                  </a:ext>
                </a:extLst>
              </p:cNvPr>
              <p:cNvSpPr txBox="1"/>
              <p:nvPr/>
            </p:nvSpPr>
            <p:spPr>
              <a:xfrm>
                <a:off x="3582097" y="1110116"/>
                <a:ext cx="304747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Importancia de cada variable calculada por el modelo Bosque Aleatorio</a:t>
                </a: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BC1ACF0C-0CC0-E81D-0EF8-A2DBACD4FF14}"/>
                </a:ext>
              </a:extLst>
            </p:cNvPr>
            <p:cNvSpPr txBox="1"/>
            <p:nvPr/>
          </p:nvSpPr>
          <p:spPr>
            <a:xfrm>
              <a:off x="381290" y="924044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A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0AA931AB-F32B-1909-D4BE-0A7EC67EAC58}"/>
                </a:ext>
              </a:extLst>
            </p:cNvPr>
            <p:cNvSpPr txBox="1"/>
            <p:nvPr/>
          </p:nvSpPr>
          <p:spPr>
            <a:xfrm>
              <a:off x="3540097" y="924043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</p:grp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903FEB8-A547-0FD0-AF8D-1D84CD344382}"/>
              </a:ext>
            </a:extLst>
          </p:cNvPr>
          <p:cNvSpPr/>
          <p:nvPr/>
        </p:nvSpPr>
        <p:spPr>
          <a:xfrm>
            <a:off x="4680675" y="3617817"/>
            <a:ext cx="1114425" cy="2123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D17D2A5-F1BC-38F9-D3D2-11E98CAF3370}"/>
              </a:ext>
            </a:extLst>
          </p:cNvPr>
          <p:cNvSpPr txBox="1"/>
          <p:nvPr/>
        </p:nvSpPr>
        <p:spPr>
          <a:xfrm>
            <a:off x="3726034" y="3457619"/>
            <a:ext cx="30474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Índice de Gini</a:t>
            </a:r>
          </a:p>
        </p:txBody>
      </p:sp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A234863D-E155-36A6-CE86-43AFDBA7E9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3720"/>
              </p:ext>
            </p:extLst>
          </p:nvPr>
        </p:nvGraphicFramePr>
        <p:xfrm>
          <a:off x="617748" y="1213649"/>
          <a:ext cx="1962233" cy="2616489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418247">
                  <a:extLst>
                    <a:ext uri="{9D8B030D-6E8A-4147-A177-3AD203B41FA5}">
                      <a16:colId xmlns:a16="http://schemas.microsoft.com/office/drawing/2014/main" val="349203716"/>
                    </a:ext>
                  </a:extLst>
                </a:gridCol>
                <a:gridCol w="543986">
                  <a:extLst>
                    <a:ext uri="{9D8B030D-6E8A-4147-A177-3AD203B41FA5}">
                      <a16:colId xmlns:a16="http://schemas.microsoft.com/office/drawing/2014/main" val="479873280"/>
                    </a:ext>
                  </a:extLst>
                </a:gridCol>
              </a:tblGrid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Variables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Dis.Media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564814030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Ophthalmic.Anomalies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100,00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822611286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Hormonal.Anomalies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41,40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179972554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Organ.Anomalies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36,75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098215617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Neural.Anomalies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27,79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402018660"/>
                  </a:ext>
                </a:extLst>
              </a:tr>
              <a:tr h="28375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Coronary.and.Vascular.Anomalies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24,88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621887959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Respiratory.Anomalies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24,75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4896167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Digestive.Anomalies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16,58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088110628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Liver.Anomalies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15,44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951681690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Cerebral.Anomalies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14,29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908394296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Aural.Anomalies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10,30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832212177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Nasal.Anomalies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7,95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4093251153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>
                          <a:effectLst/>
                        </a:rPr>
                        <a:t>Renal.Anomalies</a:t>
                      </a:r>
                      <a:endParaRPr lang="es-E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7,84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601865112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>
                          <a:effectLst/>
                        </a:rPr>
                        <a:t>Skeletal.Anomalies</a:t>
                      </a:r>
                      <a:endParaRPr lang="es-E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3,80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267326971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Reproductive.Anomalies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>
                          <a:effectLst/>
                        </a:rPr>
                        <a:t>2,12</a:t>
                      </a:r>
                      <a:endParaRPr lang="es-E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25763624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Others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1,38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44266538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Facial.Anomalies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0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307150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862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456A6F1-C725-D7C4-D936-EA6C7A9CB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086316"/>
              </p:ext>
            </p:extLst>
          </p:nvPr>
        </p:nvGraphicFramePr>
        <p:xfrm>
          <a:off x="844369" y="846908"/>
          <a:ext cx="2032001" cy="990056"/>
        </p:xfrm>
        <a:graphic>
          <a:graphicData uri="http://schemas.openxmlformats.org/drawingml/2006/table">
            <a:tbl>
              <a:tblPr>
                <a:tableStyleId>{85BE263C-DBD7-4A20-BB59-AAB30ACAA65A}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1039937850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1329723491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34228113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540167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92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718147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</a:t>
                      </a:r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10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2272859"/>
                  </a:ext>
                </a:extLst>
              </a:tr>
              <a:tr h="228056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8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219781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94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6131085"/>
                  </a:ext>
                </a:extLst>
              </a:tr>
            </a:tbl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3E074B31-1CD2-3FB3-9CDB-F346E7BB27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7945145"/>
              </p:ext>
            </p:extLst>
          </p:nvPr>
        </p:nvGraphicFramePr>
        <p:xfrm>
          <a:off x="3556000" y="846908"/>
          <a:ext cx="2032001" cy="990055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2173583920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1377951176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895996421"/>
                    </a:ext>
                  </a:extLst>
                </a:gridCol>
              </a:tblGrid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93793725"/>
                  </a:ext>
                </a:extLst>
              </a:tr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98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2978057"/>
                  </a:ext>
                </a:extLst>
              </a:tr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</a:t>
                      </a:r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78580234"/>
                  </a:ext>
                </a:extLst>
              </a:tr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92744132"/>
                  </a:ext>
                </a:extLst>
              </a:tr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</a:t>
                      </a:r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98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9652520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76A3DBB-9F8B-F44E-DF73-AE1ABC4D5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951653"/>
              </p:ext>
            </p:extLst>
          </p:nvPr>
        </p:nvGraphicFramePr>
        <p:xfrm>
          <a:off x="844369" y="2434590"/>
          <a:ext cx="2032001" cy="9525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775666804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4212398917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231541662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160976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95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42965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</a:t>
                      </a:r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7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487807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</a:t>
                      </a:r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5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194623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97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49230258"/>
                  </a:ext>
                </a:extLst>
              </a:tr>
            </a:tbl>
          </a:graphicData>
        </a:graphic>
      </p:graphicFrame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D82C4E61-B032-D089-E32D-F577F585EA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621927"/>
              </p:ext>
            </p:extLst>
          </p:nvPr>
        </p:nvGraphicFramePr>
        <p:xfrm>
          <a:off x="3555999" y="2434590"/>
          <a:ext cx="2032001" cy="9525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3490928731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2963092724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13515365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2635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98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21542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9759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152895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</a:t>
                      </a:r>
                      <a:r>
                        <a:rPr lang="es-ES" sz="1100" u="none" strike="noStrike" dirty="0" err="1">
                          <a:effectLst/>
                        </a:rPr>
                        <a:t>ciliopathy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>
                          <a:effectLst/>
                        </a:rPr>
                        <a:t>No ciliopathy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98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61491327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1445D051-BD6D-9149-6256-48197B90F129}"/>
              </a:ext>
            </a:extLst>
          </p:cNvPr>
          <p:cNvSpPr txBox="1"/>
          <p:nvPr/>
        </p:nvSpPr>
        <p:spPr>
          <a:xfrm>
            <a:off x="719833" y="539131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E10C994-D0BD-0A61-998B-6D4B9FB2A950}"/>
              </a:ext>
            </a:extLst>
          </p:cNvPr>
          <p:cNvSpPr txBox="1"/>
          <p:nvPr/>
        </p:nvSpPr>
        <p:spPr>
          <a:xfrm>
            <a:off x="3429000" y="539130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C35FD03-3B55-4306-3E7B-AC59F8BB78EB}"/>
              </a:ext>
            </a:extLst>
          </p:cNvPr>
          <p:cNvSpPr txBox="1"/>
          <p:nvPr/>
        </p:nvSpPr>
        <p:spPr>
          <a:xfrm>
            <a:off x="719833" y="2144741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FDAD08A-762B-0874-8FFD-BC7D9A6C77E5}"/>
              </a:ext>
            </a:extLst>
          </p:cNvPr>
          <p:cNvSpPr txBox="1"/>
          <p:nvPr/>
        </p:nvSpPr>
        <p:spPr>
          <a:xfrm>
            <a:off x="3429000" y="2126813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39379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upo 21">
            <a:extLst>
              <a:ext uri="{FF2B5EF4-FFF2-40B4-BE49-F238E27FC236}">
                <a16:creationId xmlns:a16="http://schemas.microsoft.com/office/drawing/2014/main" id="{2C5C5D2A-9481-7084-6E2F-45E69BC81786}"/>
              </a:ext>
            </a:extLst>
          </p:cNvPr>
          <p:cNvGrpSpPr/>
          <p:nvPr/>
        </p:nvGrpSpPr>
        <p:grpSpPr>
          <a:xfrm>
            <a:off x="886337" y="252654"/>
            <a:ext cx="4898513" cy="4186731"/>
            <a:chOff x="886337" y="252654"/>
            <a:chExt cx="4898513" cy="4186731"/>
          </a:xfrm>
        </p:grpSpPr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6000F8CA-1A64-D34E-B817-74930E4B25D8}"/>
                </a:ext>
              </a:extLst>
            </p:cNvPr>
            <p:cNvGrpSpPr/>
            <p:nvPr/>
          </p:nvGrpSpPr>
          <p:grpSpPr>
            <a:xfrm>
              <a:off x="886337" y="252654"/>
              <a:ext cx="4898513" cy="4074284"/>
              <a:chOff x="886337" y="252654"/>
              <a:chExt cx="4898513" cy="4074284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1F9B14B9-EC7B-6EE0-A9C0-2EEC7329D02C}"/>
                  </a:ext>
                </a:extLst>
              </p:cNvPr>
              <p:cNvGrpSpPr/>
              <p:nvPr/>
            </p:nvGrpSpPr>
            <p:grpSpPr>
              <a:xfrm>
                <a:off x="980445" y="252654"/>
                <a:ext cx="4804405" cy="4074284"/>
                <a:chOff x="980445" y="252654"/>
                <a:chExt cx="4804405" cy="4074284"/>
              </a:xfrm>
            </p:grpSpPr>
            <p:grpSp>
              <p:nvGrpSpPr>
                <p:cNvPr id="18" name="Grupo 17">
                  <a:extLst>
                    <a:ext uri="{FF2B5EF4-FFF2-40B4-BE49-F238E27FC236}">
                      <a16:creationId xmlns:a16="http://schemas.microsoft.com/office/drawing/2014/main" id="{B33F57E6-30BF-ACFB-3625-994ADD6C1EF0}"/>
                    </a:ext>
                  </a:extLst>
                </p:cNvPr>
                <p:cNvGrpSpPr/>
                <p:nvPr/>
              </p:nvGrpSpPr>
              <p:grpSpPr>
                <a:xfrm>
                  <a:off x="1020536" y="789919"/>
                  <a:ext cx="4764314" cy="3341689"/>
                  <a:chOff x="1020536" y="789919"/>
                  <a:chExt cx="4764314" cy="3341689"/>
                </a:xfrm>
              </p:grpSpPr>
              <p:grpSp>
                <p:nvGrpSpPr>
                  <p:cNvPr id="16" name="Grupo 15">
                    <a:extLst>
                      <a:ext uri="{FF2B5EF4-FFF2-40B4-BE49-F238E27FC236}">
                        <a16:creationId xmlns:a16="http://schemas.microsoft.com/office/drawing/2014/main" id="{AA9B66C1-2BD8-857F-652E-3530C1AE8BFF}"/>
                      </a:ext>
                    </a:extLst>
                  </p:cNvPr>
                  <p:cNvGrpSpPr/>
                  <p:nvPr/>
                </p:nvGrpSpPr>
                <p:grpSpPr>
                  <a:xfrm>
                    <a:off x="1073150" y="789919"/>
                    <a:ext cx="4711700" cy="3341689"/>
                    <a:chOff x="1073150" y="789919"/>
                    <a:chExt cx="4711700" cy="3341689"/>
                  </a:xfrm>
                </p:grpSpPr>
                <p:grpSp>
                  <p:nvGrpSpPr>
                    <p:cNvPr id="15" name="Grupo 14">
                      <a:extLst>
                        <a:ext uri="{FF2B5EF4-FFF2-40B4-BE49-F238E27FC236}">
                          <a16:creationId xmlns:a16="http://schemas.microsoft.com/office/drawing/2014/main" id="{10E4D026-0574-B5FF-E353-E9E8C31ED4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3150" y="789919"/>
                      <a:ext cx="4711700" cy="3258808"/>
                      <a:chOff x="1073150" y="789919"/>
                      <a:chExt cx="4711700" cy="3258808"/>
                    </a:xfrm>
                  </p:grpSpPr>
                  <p:grpSp>
                    <p:nvGrpSpPr>
                      <p:cNvPr id="10" name="Grupo 9">
                        <a:extLst>
                          <a:ext uri="{FF2B5EF4-FFF2-40B4-BE49-F238E27FC236}">
                            <a16:creationId xmlns:a16="http://schemas.microsoft.com/office/drawing/2014/main" id="{18639954-2781-5131-3767-E336419F1B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73150" y="917204"/>
                        <a:ext cx="4711700" cy="3131523"/>
                        <a:chOff x="1073150" y="917204"/>
                        <a:chExt cx="4711700" cy="3131523"/>
                      </a:xfrm>
                    </p:grpSpPr>
                    <p:pic>
                      <p:nvPicPr>
                        <p:cNvPr id="5" name="Imagen 4" descr="Gráfico, Histograma&#10;&#10;El contenido generado por IA puede ser incorrecto.">
                          <a:extLst>
                            <a:ext uri="{FF2B5EF4-FFF2-40B4-BE49-F238E27FC236}">
                              <a16:creationId xmlns:a16="http://schemas.microsoft.com/office/drawing/2014/main" id="{04545AA7-AF16-617B-5D90-B68DB097EF4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1073150" y="917205"/>
                          <a:ext cx="4711700" cy="3131522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" name="Rectángulo 8">
                          <a:extLst>
                            <a:ext uri="{FF2B5EF4-FFF2-40B4-BE49-F238E27FC236}">
                              <a16:creationId xmlns:a16="http://schemas.microsoft.com/office/drawing/2014/main" id="{22B929C4-9C4A-BB31-D99A-6CF9784DD19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59963" y="917204"/>
                          <a:ext cx="698377" cy="15388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solidFill>
                            <a:schemeClr val="bg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s-ES"/>
                        </a:p>
                      </p:txBody>
                    </p:sp>
                  </p:grpSp>
                  <p:sp>
                    <p:nvSpPr>
                      <p:cNvPr id="11" name="CuadroTexto 10">
                        <a:extLst>
                          <a:ext uri="{FF2B5EF4-FFF2-40B4-BE49-F238E27FC236}">
                            <a16:creationId xmlns:a16="http://schemas.microsoft.com/office/drawing/2014/main" id="{78020B2C-6B48-EF4D-E820-AB03908642E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446776" y="789919"/>
                        <a:ext cx="4074284" cy="2616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es-ES" sz="1100" b="1" dirty="0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Gráfico de sedimentación (</a:t>
                        </a:r>
                        <a:r>
                          <a:rPr lang="es-ES" sz="1100" b="1" i="1" dirty="0" err="1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Scree</a:t>
                        </a:r>
                        <a:r>
                          <a:rPr lang="es-ES" sz="1100" b="1" i="1" dirty="0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 </a:t>
                        </a:r>
                        <a:r>
                          <a:rPr lang="es-ES" sz="1100" b="1" i="1" dirty="0" err="1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Plot</a:t>
                        </a:r>
                        <a:r>
                          <a:rPr lang="es-ES" sz="1100" b="1" dirty="0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)</a:t>
                        </a:r>
                      </a:p>
                    </p:txBody>
                  </p:sp>
                  <p:sp>
                    <p:nvSpPr>
                      <p:cNvPr id="14" name="Rectángulo 13">
                        <a:extLst>
                          <a:ext uri="{FF2B5EF4-FFF2-40B4-BE49-F238E27FC236}">
                            <a16:creationId xmlns:a16="http://schemas.microsoft.com/office/drawing/2014/main" id="{1C317BB0-87C0-0B27-8D26-5F799C79DA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47060" y="3909060"/>
                        <a:ext cx="746760" cy="13966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ES"/>
                      </a:p>
                    </p:txBody>
                  </p:sp>
                </p:grpSp>
                <p:sp>
                  <p:nvSpPr>
                    <p:cNvPr id="12" name="CuadroTexto 11">
                      <a:extLst>
                        <a:ext uri="{FF2B5EF4-FFF2-40B4-BE49-F238E27FC236}">
                          <a16:creationId xmlns:a16="http://schemas.microsoft.com/office/drawing/2014/main" id="{277E1909-68A5-EF8C-F352-48A24375C9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10566" y="3869998"/>
                      <a:ext cx="407428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s-ES" sz="1100" b="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Dimensiones (Componentes Principales)</a:t>
                      </a:r>
                    </a:p>
                  </p:txBody>
                </p:sp>
              </p:grpSp>
              <p:sp>
                <p:nvSpPr>
                  <p:cNvPr id="17" name="Rectángulo 16">
                    <a:extLst>
                      <a:ext uri="{FF2B5EF4-FFF2-40B4-BE49-F238E27FC236}">
                        <a16:creationId xmlns:a16="http://schemas.microsoft.com/office/drawing/2014/main" id="{B68E1A97-90B6-373F-5B4A-40E1EEAF30F5}"/>
                      </a:ext>
                    </a:extLst>
                  </p:cNvPr>
                  <p:cNvSpPr/>
                  <p:nvPr/>
                </p:nvSpPr>
                <p:spPr>
                  <a:xfrm>
                    <a:off x="1020536" y="1728586"/>
                    <a:ext cx="181428" cy="150876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 dirty="0"/>
                  </a:p>
                </p:txBody>
              </p:sp>
            </p:grpSp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B0A61CD4-A126-38EE-58E7-50EF2062B5CF}"/>
                    </a:ext>
                  </a:extLst>
                </p:cNvPr>
                <p:cNvSpPr txBox="1"/>
                <p:nvPr/>
              </p:nvSpPr>
              <p:spPr>
                <a:xfrm rot="16200000">
                  <a:off x="-925892" y="2158991"/>
                  <a:ext cx="4074284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1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Varianza explicada</a:t>
                  </a:r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960487BD-95FD-DFAF-6906-644A7B7C9820}"/>
                  </a:ext>
                </a:extLst>
              </p:cNvPr>
              <p:cNvSpPr txBox="1"/>
              <p:nvPr/>
            </p:nvSpPr>
            <p:spPr>
              <a:xfrm>
                <a:off x="886337" y="763316"/>
                <a:ext cx="3736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B1FD7FAE-6E00-4F3F-53F1-CF2013978BE4}"/>
                </a:ext>
              </a:extLst>
            </p:cNvPr>
            <p:cNvSpPr txBox="1"/>
            <p:nvPr/>
          </p:nvSpPr>
          <p:spPr>
            <a:xfrm>
              <a:off x="886337" y="4131608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</p:grp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F9D45972-8C97-79AD-7A9A-0039217E43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486017"/>
              </p:ext>
            </p:extLst>
          </p:nvPr>
        </p:nvGraphicFramePr>
        <p:xfrm>
          <a:off x="1201964" y="4522266"/>
          <a:ext cx="4445000" cy="3810000"/>
        </p:xfrm>
        <a:graphic>
          <a:graphicData uri="http://schemas.openxmlformats.org/drawingml/2006/table">
            <a:tbl>
              <a:tblPr/>
              <a:tblGrid>
                <a:gridCol w="798959">
                  <a:extLst>
                    <a:ext uri="{9D8B030D-6E8A-4147-A177-3AD203B41FA5}">
                      <a16:colId xmlns:a16="http://schemas.microsoft.com/office/drawing/2014/main" val="2046486833"/>
                    </a:ext>
                  </a:extLst>
                </a:gridCol>
                <a:gridCol w="925777">
                  <a:extLst>
                    <a:ext uri="{9D8B030D-6E8A-4147-A177-3AD203B41FA5}">
                      <a16:colId xmlns:a16="http://schemas.microsoft.com/office/drawing/2014/main" val="2591689515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1979912124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225638335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Dimension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eigenvalues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porcentaje varianza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varianza acumulada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1595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699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717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13742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9728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68,3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8172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74,2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3453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52981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9265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52149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6835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5275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6495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95,8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5428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130334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97,8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2857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028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6702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22984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557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597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8B48CF29-21DB-3D32-472E-F716F90CF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58623"/>
              </p:ext>
            </p:extLst>
          </p:nvPr>
        </p:nvGraphicFramePr>
        <p:xfrm>
          <a:off x="1265552" y="5150303"/>
          <a:ext cx="4445000" cy="3238500"/>
        </p:xfrm>
        <a:graphic>
          <a:graphicData uri="http://schemas.openxmlformats.org/drawingml/2006/table">
            <a:tbl>
              <a:tblPr/>
              <a:tblGrid>
                <a:gridCol w="798959">
                  <a:extLst>
                    <a:ext uri="{9D8B030D-6E8A-4147-A177-3AD203B41FA5}">
                      <a16:colId xmlns:a16="http://schemas.microsoft.com/office/drawing/2014/main" val="3289290554"/>
                    </a:ext>
                  </a:extLst>
                </a:gridCol>
                <a:gridCol w="925777">
                  <a:extLst>
                    <a:ext uri="{9D8B030D-6E8A-4147-A177-3AD203B41FA5}">
                      <a16:colId xmlns:a16="http://schemas.microsoft.com/office/drawing/2014/main" val="3903405729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1643684084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366973918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Dimension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eigenvalues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porcentaje varianza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varianza acumulada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2431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65956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7322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32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8056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26290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48334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76,1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93539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8644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04174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87,7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1136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1462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93,0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134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6106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77838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9777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777682"/>
                  </a:ext>
                </a:extLst>
              </a:tr>
            </a:tbl>
          </a:graphicData>
        </a:graphic>
      </p:graphicFrame>
      <p:grpSp>
        <p:nvGrpSpPr>
          <p:cNvPr id="22" name="Grupo 21">
            <a:extLst>
              <a:ext uri="{FF2B5EF4-FFF2-40B4-BE49-F238E27FC236}">
                <a16:creationId xmlns:a16="http://schemas.microsoft.com/office/drawing/2014/main" id="{2BD15AE3-E476-9506-C882-030DC61B20B4}"/>
              </a:ext>
            </a:extLst>
          </p:cNvPr>
          <p:cNvGrpSpPr/>
          <p:nvPr/>
        </p:nvGrpSpPr>
        <p:grpSpPr>
          <a:xfrm>
            <a:off x="1015745" y="568336"/>
            <a:ext cx="4826509" cy="4532662"/>
            <a:chOff x="1015745" y="568336"/>
            <a:chExt cx="4826509" cy="4532662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6CF15BF6-275A-4AC9-CA73-C3749408DF65}"/>
                </a:ext>
              </a:extLst>
            </p:cNvPr>
            <p:cNvGrpSpPr/>
            <p:nvPr/>
          </p:nvGrpSpPr>
          <p:grpSpPr>
            <a:xfrm>
              <a:off x="1015745" y="568336"/>
              <a:ext cx="4826509" cy="4274622"/>
              <a:chOff x="950343" y="742508"/>
              <a:chExt cx="4826509" cy="4274622"/>
            </a:xfrm>
          </p:grpSpPr>
          <p:grpSp>
            <p:nvGrpSpPr>
              <p:cNvPr id="17" name="Grupo 16">
                <a:extLst>
                  <a:ext uri="{FF2B5EF4-FFF2-40B4-BE49-F238E27FC236}">
                    <a16:creationId xmlns:a16="http://schemas.microsoft.com/office/drawing/2014/main" id="{01EE9893-ECA9-0F20-17F6-EDD0F2D289FA}"/>
                  </a:ext>
                </a:extLst>
              </p:cNvPr>
              <p:cNvGrpSpPr/>
              <p:nvPr/>
            </p:nvGrpSpPr>
            <p:grpSpPr>
              <a:xfrm>
                <a:off x="950343" y="742508"/>
                <a:ext cx="4826509" cy="4274622"/>
                <a:chOff x="950343" y="742508"/>
                <a:chExt cx="4826509" cy="4274622"/>
              </a:xfrm>
            </p:grpSpPr>
            <p:grpSp>
              <p:nvGrpSpPr>
                <p:cNvPr id="15" name="Grupo 14">
                  <a:extLst>
                    <a:ext uri="{FF2B5EF4-FFF2-40B4-BE49-F238E27FC236}">
                      <a16:creationId xmlns:a16="http://schemas.microsoft.com/office/drawing/2014/main" id="{B5845A45-A449-4527-4EB1-82DBD9F00FFA}"/>
                    </a:ext>
                  </a:extLst>
                </p:cNvPr>
                <p:cNvGrpSpPr/>
                <p:nvPr/>
              </p:nvGrpSpPr>
              <p:grpSpPr>
                <a:xfrm>
                  <a:off x="971550" y="866726"/>
                  <a:ext cx="4805302" cy="4150404"/>
                  <a:chOff x="971550" y="866726"/>
                  <a:chExt cx="4805302" cy="4150404"/>
                </a:xfrm>
              </p:grpSpPr>
              <p:grpSp>
                <p:nvGrpSpPr>
                  <p:cNvPr id="13" name="Grupo 12">
                    <a:extLst>
                      <a:ext uri="{FF2B5EF4-FFF2-40B4-BE49-F238E27FC236}">
                        <a16:creationId xmlns:a16="http://schemas.microsoft.com/office/drawing/2014/main" id="{81C03714-959F-3FFE-CBAD-3B4418790433}"/>
                      </a:ext>
                    </a:extLst>
                  </p:cNvPr>
                  <p:cNvGrpSpPr/>
                  <p:nvPr/>
                </p:nvGrpSpPr>
                <p:grpSpPr>
                  <a:xfrm>
                    <a:off x="1081148" y="866726"/>
                    <a:ext cx="4695704" cy="4150404"/>
                    <a:chOff x="1081148" y="866726"/>
                    <a:chExt cx="4695704" cy="4150404"/>
                  </a:xfrm>
                </p:grpSpPr>
                <p:grpSp>
                  <p:nvGrpSpPr>
                    <p:cNvPr id="11" name="Grupo 10">
                      <a:extLst>
                        <a:ext uri="{FF2B5EF4-FFF2-40B4-BE49-F238E27FC236}">
                          <a16:creationId xmlns:a16="http://schemas.microsoft.com/office/drawing/2014/main" id="{2B429717-CE2B-8142-9AF8-5041BCA702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81148" y="866726"/>
                      <a:ext cx="4695704" cy="4019599"/>
                      <a:chOff x="1081148" y="866726"/>
                      <a:chExt cx="4695704" cy="4019599"/>
                    </a:xfrm>
                  </p:grpSpPr>
                  <p:grpSp>
                    <p:nvGrpSpPr>
                      <p:cNvPr id="9" name="Grupo 8">
                        <a:extLst>
                          <a:ext uri="{FF2B5EF4-FFF2-40B4-BE49-F238E27FC236}">
                            <a16:creationId xmlns:a16="http://schemas.microsoft.com/office/drawing/2014/main" id="{ED711D06-81BC-7D3D-90E5-76302CBC34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1148" y="866726"/>
                        <a:ext cx="4695704" cy="4019599"/>
                        <a:chOff x="1081148" y="866726"/>
                        <a:chExt cx="4695704" cy="4019599"/>
                      </a:xfrm>
                    </p:grpSpPr>
                    <p:grpSp>
                      <p:nvGrpSpPr>
                        <p:cNvPr id="8" name="Grupo 7">
                          <a:extLst>
                            <a:ext uri="{FF2B5EF4-FFF2-40B4-BE49-F238E27FC236}">
                              <a16:creationId xmlns:a16="http://schemas.microsoft.com/office/drawing/2014/main" id="{43B42924-D649-5886-0AC4-3190F0223F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1148" y="1046998"/>
                          <a:ext cx="4695704" cy="3839327"/>
                          <a:chOff x="1081148" y="1046998"/>
                          <a:chExt cx="4695704" cy="3839327"/>
                        </a:xfrm>
                      </p:grpSpPr>
                      <p:pic>
                        <p:nvPicPr>
                          <p:cNvPr id="5" name="Imagen 4" descr="Gráfico, Histograma&#10;&#10;El contenido generado por IA puede ser incorrecto.">
                            <a:extLst>
                              <a:ext uri="{FF2B5EF4-FFF2-40B4-BE49-F238E27FC236}">
                                <a16:creationId xmlns:a16="http://schemas.microsoft.com/office/drawing/2014/main" id="{01D945CB-3EBD-E14E-5570-92E38395A551}"/>
                              </a:ext>
                            </a:extLst>
                          </p:cNvPr>
                          <p:cNvPicPr>
                            <a:picLocks noChangeAspect="1"/>
                          </p:cNvPicPr>
                          <p:nvPr/>
                        </p:nvPicPr>
                        <p:blipFill>
                          <a:blip r:embed="rId2"/>
                          <a:stretch>
                            <a:fillRect/>
                          </a:stretch>
                        </p:blipFill>
                        <p:spPr>
                          <a:xfrm>
                            <a:off x="1081148" y="1046998"/>
                            <a:ext cx="4695704" cy="3839327"/>
                          </a:xfrm>
                          <a:prstGeom prst="rect">
                            <a:avLst/>
                          </a:prstGeom>
                        </p:spPr>
                      </p:pic>
                      <p:sp>
                        <p:nvSpPr>
                          <p:cNvPr id="7" name="Rectángulo 6">
                            <a:extLst>
                              <a:ext uri="{FF2B5EF4-FFF2-40B4-BE49-F238E27FC236}">
                                <a16:creationId xmlns:a16="http://schemas.microsoft.com/office/drawing/2014/main" id="{0EF04052-3B6E-AFFD-EDA6-F51DB1CCEB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0150" y="1046998"/>
                            <a:ext cx="771525" cy="16267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s-ES"/>
                          </a:p>
                        </p:txBody>
                      </p:sp>
                    </p:grpSp>
                    <p:sp>
                      <p:nvSpPr>
                        <p:cNvPr id="6" name="CuadroTexto 5">
                          <a:extLst>
                            <a:ext uri="{FF2B5EF4-FFF2-40B4-BE49-F238E27FC236}">
                              <a16:creationId xmlns:a16="http://schemas.microsoft.com/office/drawing/2014/main" id="{541E08DF-0011-0148-F8C5-1A40844BD28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391858" y="866726"/>
                          <a:ext cx="4074284" cy="2616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es-ES" sz="1100" b="1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Gráfico de sedimentación (</a:t>
                          </a:r>
                          <a:r>
                            <a:rPr lang="es-ES" sz="1100" b="1" i="1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Scree</a:t>
                          </a:r>
                          <a:r>
                            <a:rPr lang="es-ES" sz="1100" b="1" i="1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s-ES" sz="1100" b="1" i="1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Plot</a:t>
                          </a:r>
                          <a:r>
                            <a:rPr lang="es-ES" sz="1100" b="1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</a:p>
                      </p:txBody>
                    </p:sp>
                  </p:grpSp>
                  <p:sp>
                    <p:nvSpPr>
                      <p:cNvPr id="10" name="Rectángulo 9">
                        <a:extLst>
                          <a:ext uri="{FF2B5EF4-FFF2-40B4-BE49-F238E27FC236}">
                            <a16:creationId xmlns:a16="http://schemas.microsoft.com/office/drawing/2014/main" id="{CC5092D4-2183-96EB-B794-EA71E3965D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1825" y="4747259"/>
                        <a:ext cx="723900" cy="139066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ES"/>
                      </a:p>
                    </p:txBody>
                  </p:sp>
                </p:grpSp>
                <p:sp>
                  <p:nvSpPr>
                    <p:cNvPr id="12" name="CuadroTexto 11">
                      <a:extLst>
                        <a:ext uri="{FF2B5EF4-FFF2-40B4-BE49-F238E27FC236}">
                          <a16:creationId xmlns:a16="http://schemas.microsoft.com/office/drawing/2014/main" id="{C3CFE5FE-72D3-D00A-04FF-DAC1252CAB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96633" y="4755520"/>
                      <a:ext cx="407428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s-ES" sz="1100" b="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Dimensiones (Componentes Principales)</a:t>
                      </a:r>
                    </a:p>
                  </p:txBody>
                </p:sp>
              </p:grpSp>
              <p:sp>
                <p:nvSpPr>
                  <p:cNvPr id="14" name="Rectángulo 13">
                    <a:extLst>
                      <a:ext uri="{FF2B5EF4-FFF2-40B4-BE49-F238E27FC236}">
                        <a16:creationId xmlns:a16="http://schemas.microsoft.com/office/drawing/2014/main" id="{47DE03E1-BF8F-978F-C028-61B21E6CB7B8}"/>
                      </a:ext>
                    </a:extLst>
                  </p:cNvPr>
                  <p:cNvSpPr/>
                  <p:nvPr/>
                </p:nvSpPr>
                <p:spPr>
                  <a:xfrm>
                    <a:off x="971550" y="2190750"/>
                    <a:ext cx="238125" cy="155257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/>
                  </a:p>
                </p:txBody>
              </p:sp>
            </p:grpSp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844B4AE3-EE78-8FFA-2DE9-FD9BC442256D}"/>
                    </a:ext>
                  </a:extLst>
                </p:cNvPr>
                <p:cNvSpPr txBox="1"/>
                <p:nvPr/>
              </p:nvSpPr>
              <p:spPr>
                <a:xfrm rot="16200000">
                  <a:off x="-955994" y="2648845"/>
                  <a:ext cx="4074284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1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Varianza explicada</a:t>
                  </a:r>
                </a:p>
              </p:txBody>
            </p:sp>
          </p:grp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DEB9A63-D500-9174-D112-B7FC3C4CB685}"/>
                  </a:ext>
                </a:extLst>
              </p:cNvPr>
              <p:cNvSpPr txBox="1"/>
              <p:nvPr/>
            </p:nvSpPr>
            <p:spPr>
              <a:xfrm>
                <a:off x="1094432" y="893109"/>
                <a:ext cx="3736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5C9E129-1D55-CD62-BA5F-8293C518BBED}"/>
                </a:ext>
              </a:extLst>
            </p:cNvPr>
            <p:cNvSpPr txBox="1"/>
            <p:nvPr/>
          </p:nvSpPr>
          <p:spPr>
            <a:xfrm>
              <a:off x="1078739" y="4793221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5392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o 10">
            <a:extLst>
              <a:ext uri="{FF2B5EF4-FFF2-40B4-BE49-F238E27FC236}">
                <a16:creationId xmlns:a16="http://schemas.microsoft.com/office/drawing/2014/main" id="{716B03EA-78E4-C002-5F9D-09E733EB60DD}"/>
              </a:ext>
            </a:extLst>
          </p:cNvPr>
          <p:cNvGrpSpPr/>
          <p:nvPr/>
        </p:nvGrpSpPr>
        <p:grpSpPr>
          <a:xfrm>
            <a:off x="361645" y="269147"/>
            <a:ext cx="6328897" cy="9213816"/>
            <a:chOff x="361645" y="269147"/>
            <a:chExt cx="6328897" cy="9213816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692E7F08-832B-7484-F78C-DF92E00D06E2}"/>
                </a:ext>
              </a:extLst>
            </p:cNvPr>
            <p:cNvGrpSpPr/>
            <p:nvPr/>
          </p:nvGrpSpPr>
          <p:grpSpPr>
            <a:xfrm>
              <a:off x="548458" y="423036"/>
              <a:ext cx="6142084" cy="9059927"/>
              <a:chOff x="357958" y="173571"/>
              <a:chExt cx="6142084" cy="9059927"/>
            </a:xfrm>
          </p:grpSpPr>
          <p:pic>
            <p:nvPicPr>
              <p:cNvPr id="5" name="Imagen 4" descr="Gráfico, Gráfico de líneas&#10;&#10;El contenido generado por IA puede ser incorrecto.">
                <a:extLst>
                  <a:ext uri="{FF2B5EF4-FFF2-40B4-BE49-F238E27FC236}">
                    <a16:creationId xmlns:a16="http://schemas.microsoft.com/office/drawing/2014/main" id="{1C12F489-4DCD-FA87-CB27-14AA7CA0C9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57958" y="173571"/>
                <a:ext cx="6142084" cy="4280498"/>
              </a:xfrm>
              <a:prstGeom prst="rect">
                <a:avLst/>
              </a:prstGeom>
            </p:spPr>
          </p:pic>
          <p:pic>
            <p:nvPicPr>
              <p:cNvPr id="7" name="Imagen 6" descr="Interfaz de usuario gráfica, Gráfico&#10;&#10;El contenido generado por IA puede ser incorrecto.">
                <a:extLst>
                  <a:ext uri="{FF2B5EF4-FFF2-40B4-BE49-F238E27FC236}">
                    <a16:creationId xmlns:a16="http://schemas.microsoft.com/office/drawing/2014/main" id="{4F2738B8-B409-FF1C-5ED8-00E7973D3E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7958" y="4953000"/>
                <a:ext cx="6142084" cy="4280498"/>
              </a:xfrm>
              <a:prstGeom prst="rect">
                <a:avLst/>
              </a:prstGeom>
            </p:spPr>
          </p:pic>
        </p:grp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DFA39C60-423E-CC7A-48D8-CF0182212782}"/>
                </a:ext>
              </a:extLst>
            </p:cNvPr>
            <p:cNvSpPr txBox="1"/>
            <p:nvPr/>
          </p:nvSpPr>
          <p:spPr>
            <a:xfrm>
              <a:off x="361645" y="269147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A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DAA63429-D447-4962-9A0B-CD70814B5883}"/>
                </a:ext>
              </a:extLst>
            </p:cNvPr>
            <p:cNvSpPr txBox="1"/>
            <p:nvPr/>
          </p:nvSpPr>
          <p:spPr>
            <a:xfrm>
              <a:off x="361645" y="5048576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621633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</TotalTime>
  <Words>511</Words>
  <Application>Microsoft Office PowerPoint</Application>
  <PresentationFormat>A4 (210 x 297 mm)</PresentationFormat>
  <Paragraphs>297</Paragraphs>
  <Slides>19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Cristina Lázaro Ruiz</dc:creator>
  <cp:lastModifiedBy>Cristina Lázaro Ruíz</cp:lastModifiedBy>
  <cp:revision>48</cp:revision>
  <dcterms:created xsi:type="dcterms:W3CDTF">2025-03-10T08:05:10Z</dcterms:created>
  <dcterms:modified xsi:type="dcterms:W3CDTF">2025-06-06T09:59:22Z</dcterms:modified>
</cp:coreProperties>
</file>